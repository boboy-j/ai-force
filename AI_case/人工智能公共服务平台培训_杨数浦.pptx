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5" r:id="rId4"/>
    <p:sldId id="267" r:id="rId5"/>
    <p:sldId id="270" r:id="rId6"/>
    <p:sldId id="271" r:id="rId7"/>
    <p:sldId id="273" r:id="rId8"/>
    <p:sldId id="275" r:id="rId9"/>
    <p:sldId id="277" r:id="rId10"/>
    <p:sldId id="279" r:id="rId11"/>
    <p:sldId id="281" r:id="rId12"/>
    <p:sldId id="283" r:id="rId13"/>
    <p:sldId id="260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64" autoAdjust="0"/>
    <p:restoredTop sz="86451" autoAdjust="0"/>
  </p:normalViewPr>
  <p:slideViewPr>
    <p:cSldViewPr snapToGrid="0" showGuides="1">
      <p:cViewPr varScale="1">
        <p:scale>
          <a:sx n="139" d="100"/>
          <a:sy n="139" d="100"/>
        </p:scale>
        <p:origin x="92" y="56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CC682-0E37-4246-A7C3-B0CC0FE5621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6787A-55F9-47BD-B609-4DE5B5305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-221275" y="0"/>
            <a:ext cx="12422743" cy="6858001"/>
            <a:chOff x="-221275" y="0"/>
            <a:chExt cx="12422743" cy="6858001"/>
          </a:xfrm>
        </p:grpSpPr>
        <p:sp>
          <p:nvSpPr>
            <p:cNvPr id="88" name="Freeform: Shape 87"/>
            <p:cNvSpPr/>
            <p:nvPr/>
          </p:nvSpPr>
          <p:spPr>
            <a:xfrm>
              <a:off x="0" y="0"/>
              <a:ext cx="12192000" cy="6858001"/>
            </a:xfrm>
            <a:custGeom>
              <a:avLst/>
              <a:gdLst>
                <a:gd name="connsiteX0" fmla="*/ 3337128 w 12192000"/>
                <a:gd name="connsiteY0" fmla="*/ 0 h 6858001"/>
                <a:gd name="connsiteX1" fmla="*/ 10351518 w 12192000"/>
                <a:gd name="connsiteY1" fmla="*/ 0 h 6858001"/>
                <a:gd name="connsiteX2" fmla="*/ 10351518 w 12192000"/>
                <a:gd name="connsiteY2" fmla="*/ 2 h 6858001"/>
                <a:gd name="connsiteX3" fmla="*/ 12192000 w 12192000"/>
                <a:gd name="connsiteY3" fmla="*/ 2 h 6858001"/>
                <a:gd name="connsiteX4" fmla="*/ 12192000 w 12192000"/>
                <a:gd name="connsiteY4" fmla="*/ 5646941 h 6858001"/>
                <a:gd name="connsiteX5" fmla="*/ 9619733 w 12192000"/>
                <a:gd name="connsiteY5" fmla="*/ 6858001 h 6858001"/>
                <a:gd name="connsiteX6" fmla="*/ 4809867 w 12192000"/>
                <a:gd name="connsiteY6" fmla="*/ 6858001 h 6858001"/>
                <a:gd name="connsiteX7" fmla="*/ 0 w 12192000"/>
                <a:gd name="connsiteY7" fmla="*/ 6858001 h 6858001"/>
                <a:gd name="connsiteX8" fmla="*/ 0 w 12192000"/>
                <a:gd name="connsiteY8" fmla="*/ 6525157 h 6858001"/>
                <a:gd name="connsiteX9" fmla="*/ 0 w 12192000"/>
                <a:gd name="connsiteY9" fmla="*/ 6040509 h 6858001"/>
                <a:gd name="connsiteX10" fmla="*/ 0 w 12192000"/>
                <a:gd name="connsiteY10" fmla="*/ 1571167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6858001">
                  <a:moveTo>
                    <a:pt x="3337128" y="0"/>
                  </a:moveTo>
                  <a:lnTo>
                    <a:pt x="10351518" y="0"/>
                  </a:lnTo>
                  <a:lnTo>
                    <a:pt x="10351518" y="2"/>
                  </a:lnTo>
                  <a:lnTo>
                    <a:pt x="12192000" y="2"/>
                  </a:lnTo>
                  <a:lnTo>
                    <a:pt x="12192000" y="5646941"/>
                  </a:lnTo>
                  <a:lnTo>
                    <a:pt x="9619733" y="6858001"/>
                  </a:lnTo>
                  <a:lnTo>
                    <a:pt x="4809867" y="6858001"/>
                  </a:lnTo>
                  <a:lnTo>
                    <a:pt x="0" y="6858001"/>
                  </a:lnTo>
                  <a:lnTo>
                    <a:pt x="0" y="6525157"/>
                  </a:lnTo>
                  <a:lnTo>
                    <a:pt x="0" y="6040509"/>
                  </a:lnTo>
                  <a:lnTo>
                    <a:pt x="0" y="15711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7" name="Freeform: Shape 6"/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Straight Connector 8"/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 88"/>
            <p:cNvGrpSpPr/>
            <p:nvPr/>
          </p:nvGrpSpPr>
          <p:grpSpPr>
            <a:xfrm>
              <a:off x="-221275" y="727340"/>
              <a:ext cx="3605825" cy="1496607"/>
              <a:chOff x="-221275" y="727340"/>
              <a:chExt cx="3605825" cy="1496607"/>
            </a:xfrm>
          </p:grpSpPr>
          <p:sp>
            <p:nvSpPr>
              <p:cNvPr id="6" name="Freeform: Shape 5"/>
              <p:cNvSpPr/>
              <p:nvPr/>
            </p:nvSpPr>
            <p:spPr>
              <a:xfrm rot="20065552">
                <a:off x="-221275" y="1693687"/>
                <a:ext cx="2180707" cy="530260"/>
              </a:xfrm>
              <a:custGeom>
                <a:avLst/>
                <a:gdLst>
                  <a:gd name="connsiteX0" fmla="*/ 2018777 w 2180707"/>
                  <a:gd name="connsiteY0" fmla="*/ 20835 h 530260"/>
                  <a:gd name="connsiteX1" fmla="*/ 2180707 w 2180707"/>
                  <a:gd name="connsiteY1" fmla="*/ 265130 h 530260"/>
                  <a:gd name="connsiteX2" fmla="*/ 2180706 w 2180707"/>
                  <a:gd name="connsiteY2" fmla="*/ 265130 h 530260"/>
                  <a:gd name="connsiteX3" fmla="*/ 1915576 w 2180707"/>
                  <a:gd name="connsiteY3" fmla="*/ 530260 h 530260"/>
                  <a:gd name="connsiteX4" fmla="*/ 0 w 2180707"/>
                  <a:gd name="connsiteY4" fmla="*/ 530259 h 530260"/>
                  <a:gd name="connsiteX5" fmla="*/ 253764 w 2180707"/>
                  <a:gd name="connsiteY5" fmla="*/ 0 h 530260"/>
                  <a:gd name="connsiteX6" fmla="*/ 1915577 w 2180707"/>
                  <a:gd name="connsiteY6" fmla="*/ 0 h 530260"/>
                  <a:gd name="connsiteX7" fmla="*/ 2018777 w 2180707"/>
                  <a:gd name="connsiteY7" fmla="*/ 20835 h 53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0707" h="530260">
                    <a:moveTo>
                      <a:pt x="2018777" y="20835"/>
                    </a:moveTo>
                    <a:cubicBezTo>
                      <a:pt x="2113936" y="61084"/>
                      <a:pt x="2180707" y="155310"/>
                      <a:pt x="2180707" y="265130"/>
                    </a:cubicBezTo>
                    <a:lnTo>
                      <a:pt x="2180706" y="265130"/>
                    </a:lnTo>
                    <a:cubicBezTo>
                      <a:pt x="2180706" y="411557"/>
                      <a:pt x="2062003" y="530260"/>
                      <a:pt x="1915576" y="530260"/>
                    </a:cubicBezTo>
                    <a:lnTo>
                      <a:pt x="0" y="530259"/>
                    </a:lnTo>
                    <a:lnTo>
                      <a:pt x="253764" y="0"/>
                    </a:lnTo>
                    <a:lnTo>
                      <a:pt x="1915577" y="0"/>
                    </a:lnTo>
                    <a:cubicBezTo>
                      <a:pt x="1952184" y="0"/>
                      <a:pt x="1987058" y="7419"/>
                      <a:pt x="2018777" y="20835"/>
                    </a:cubicBezTo>
                    <a:close/>
                  </a:path>
                </a:pathLst>
              </a:custGeom>
              <a:gradFill flip="none" rotWithShape="1">
                <a:gsLst>
                  <a:gs pos="47000">
                    <a:schemeClr val="accent3">
                      <a:lumMod val="75000"/>
                      <a:alpha val="61000"/>
                    </a:schemeClr>
                  </a:gs>
                  <a:gs pos="100000">
                    <a:schemeClr val="accent3">
                      <a:lumMod val="40000"/>
                      <a:lumOff val="60000"/>
                      <a:alpha val="70000"/>
                    </a:schemeClr>
                  </a:gs>
                </a:gsLst>
                <a:lin ang="20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cxnSp>
            <p:nvCxnSpPr>
              <p:cNvPr id="10" name="Straight Connector 9"/>
              <p:cNvCxnSpPr>
                <a:cxnSpLocks/>
              </p:cNvCxnSpPr>
              <p:nvPr/>
            </p:nvCxnSpPr>
            <p:spPr>
              <a:xfrm flipV="1">
                <a:off x="830977" y="727340"/>
                <a:ext cx="2553573" cy="11599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903652" y="1721498"/>
              <a:ext cx="5807600" cy="4116517"/>
              <a:chOff x="3016251" y="1239838"/>
              <a:chExt cx="6176963" cy="4378326"/>
            </a:xfrm>
          </p:grpSpPr>
          <p:sp>
            <p:nvSpPr>
              <p:cNvPr id="12" name="Freeform: Shape 11"/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Freeform: Shape 12"/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Freeform: Shape 13"/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Freeform: Shape 14"/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Freeform: Shape 15"/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: Shape 16"/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Freeform: Shape 17"/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Freeform: Shape 18"/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Freeform: Shape 19"/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Freeform: Shape 20"/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Freeform: Shape 21"/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Oval 22"/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Oval 23"/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Oval 24"/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Freeform: Shape 25"/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Freeform: Shape 26"/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Freeform: Shape 27"/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Freeform: Shape 29"/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Freeform: Shape 30"/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Rectangle 31"/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Rectangle 33"/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Freeform: Shape 34"/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Oval 35"/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Oval 37"/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Freeform: Shape 38"/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Freeform: Shape 39"/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Freeform: Shape 40"/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Freeform: Shape 41"/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Freeform: Shape 42"/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43"/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44"/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45"/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46"/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47"/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48"/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49"/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50"/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51"/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Freeform: Shape 52"/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53"/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54"/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Freeform: Shape 55"/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Freeform: Shape 56"/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Freeform: Shape 57"/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Freeform: Shape 58"/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Freeform: Shape 59"/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Freeform: Shape 60"/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Freeform: Shape 61"/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Rectangle 63"/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Rectangle 64"/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Rectangle 65"/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66"/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Freeform: Shape 67"/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Freeform: Shape 68"/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Freeform: Shape 69"/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Oval 70"/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chemeClr val="accent1">
                  <a:lumMod val="50000"/>
                  <a:alpha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71"/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Freeform: Shape 72"/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73"/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Freeform: Shape 74"/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75"/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Freeform: Shape 76"/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Freeform: Shape 77"/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Freeform: Shape 78"/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Freeform: Shape 79"/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Freeform: Shape 80"/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Freeform: Shape 81"/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Freeform: Shape 82"/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6003257" cy="2568858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400" y="4173181"/>
            <a:ext cx="4802382" cy="508703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 dirty="0"/>
          </a:p>
        </p:txBody>
      </p:sp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gradFill>
          <a:gsLst>
            <a:gs pos="0">
              <a:schemeClr val="accent3">
                <a:lumMod val="75000"/>
              </a:schemeClr>
            </a:gs>
            <a:gs pos="100000">
              <a:schemeClr val="accent1">
                <a:lumMod val="75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/>
        </p:nvSpPr>
        <p:spPr>
          <a:xfrm>
            <a:off x="0" y="0"/>
            <a:ext cx="12192000" cy="6858001"/>
          </a:xfrm>
          <a:custGeom>
            <a:avLst/>
            <a:gdLst>
              <a:gd name="connsiteX0" fmla="*/ 3337128 w 12192000"/>
              <a:gd name="connsiteY0" fmla="*/ 0 h 6858001"/>
              <a:gd name="connsiteX1" fmla="*/ 10351518 w 12192000"/>
              <a:gd name="connsiteY1" fmla="*/ 0 h 6858001"/>
              <a:gd name="connsiteX2" fmla="*/ 10351518 w 12192000"/>
              <a:gd name="connsiteY2" fmla="*/ 2 h 6858001"/>
              <a:gd name="connsiteX3" fmla="*/ 12192000 w 12192000"/>
              <a:gd name="connsiteY3" fmla="*/ 2 h 6858001"/>
              <a:gd name="connsiteX4" fmla="*/ 12192000 w 12192000"/>
              <a:gd name="connsiteY4" fmla="*/ 5646941 h 6858001"/>
              <a:gd name="connsiteX5" fmla="*/ 9619733 w 12192000"/>
              <a:gd name="connsiteY5" fmla="*/ 6858001 h 6858001"/>
              <a:gd name="connsiteX6" fmla="*/ 4809867 w 12192000"/>
              <a:gd name="connsiteY6" fmla="*/ 6858001 h 6858001"/>
              <a:gd name="connsiteX7" fmla="*/ 0 w 12192000"/>
              <a:gd name="connsiteY7" fmla="*/ 6858001 h 6858001"/>
              <a:gd name="connsiteX8" fmla="*/ 0 w 12192000"/>
              <a:gd name="connsiteY8" fmla="*/ 6525157 h 6858001"/>
              <a:gd name="connsiteX9" fmla="*/ 0 w 12192000"/>
              <a:gd name="connsiteY9" fmla="*/ 6040509 h 6858001"/>
              <a:gd name="connsiteX10" fmla="*/ 0 w 12192000"/>
              <a:gd name="connsiteY10" fmla="*/ 157116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1">
                <a:moveTo>
                  <a:pt x="3337128" y="0"/>
                </a:moveTo>
                <a:lnTo>
                  <a:pt x="10351518" y="0"/>
                </a:lnTo>
                <a:lnTo>
                  <a:pt x="10351518" y="2"/>
                </a:lnTo>
                <a:lnTo>
                  <a:pt x="12192000" y="2"/>
                </a:lnTo>
                <a:lnTo>
                  <a:pt x="12192000" y="5646941"/>
                </a:lnTo>
                <a:lnTo>
                  <a:pt x="9619733" y="6858001"/>
                </a:lnTo>
                <a:lnTo>
                  <a:pt x="4809867" y="6858001"/>
                </a:lnTo>
                <a:lnTo>
                  <a:pt x="0" y="6858001"/>
                </a:lnTo>
                <a:lnTo>
                  <a:pt x="0" y="6525157"/>
                </a:lnTo>
                <a:lnTo>
                  <a:pt x="0" y="6040509"/>
                </a:lnTo>
                <a:lnTo>
                  <a:pt x="0" y="15711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93086" y="2441601"/>
            <a:ext cx="6019464" cy="98739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499436" y="3429000"/>
            <a:ext cx="6019464" cy="2096896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7029" y="1928087"/>
            <a:ext cx="4967548" cy="3521075"/>
            <a:chOff x="3016251" y="1239838"/>
            <a:chExt cx="6176963" cy="4378326"/>
          </a:xfrm>
        </p:grpSpPr>
        <p:sp>
          <p:nvSpPr>
            <p:cNvPr id="9" name="Freeform: Shape 8"/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Freeform: Shape 9"/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Freeform: Shape 10"/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Freeform: Shape 17"/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Freeform: Shape 18"/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Freeform: Shape 22"/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Freeform: Shape 23"/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Freeform: Shape 24"/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Freeform: Shape 26"/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Freeform: Shape 27"/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Freeform: Shape 31"/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Freeform: Shape 35"/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Freeform: Shape 36"/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Freeform: Shape 37"/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Freeform: Shape 38"/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39"/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40"/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41"/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Freeform: Shape 42"/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43"/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Freeform: Shape 44"/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Freeform: Shape 45"/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Freeform: Shape 46"/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47"/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Freeform: Shape 48"/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Freeform: Shape 49"/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Freeform: Shape 50"/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Freeform: Shape 51"/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Freeform: Shape 52"/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Freeform: Shape 53"/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Freeform: Shape 54"/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Freeform: Shape 55"/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Freeform: Shape 56"/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Freeform: Shape 57"/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Freeform: Shape 58"/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Freeform: Shape 63"/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Freeform: Shape 64"/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Freeform: Shape 65"/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Freeform: Shape 66"/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Oval 67"/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Freeform: Shape 68"/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Freeform: Shape 69"/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Freeform: Shape 70"/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Freeform: Shape 71"/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Freeform: Shape 72"/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Freeform: Shape 73"/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Freeform: Shape 74"/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Freeform: Shape 75"/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Freeform: Shape 76"/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Freeform: Shape 77"/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Freeform: Shape 78"/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Freeform: Shape 79"/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 flipH="1">
            <a:off x="-3232" y="0"/>
            <a:ext cx="12192000" cy="6858001"/>
          </a:xfrm>
          <a:custGeom>
            <a:avLst/>
            <a:gdLst>
              <a:gd name="connsiteX0" fmla="*/ 3337128 w 12192000"/>
              <a:gd name="connsiteY0" fmla="*/ 0 h 6858001"/>
              <a:gd name="connsiteX1" fmla="*/ 10351518 w 12192000"/>
              <a:gd name="connsiteY1" fmla="*/ 0 h 6858001"/>
              <a:gd name="connsiteX2" fmla="*/ 10351518 w 12192000"/>
              <a:gd name="connsiteY2" fmla="*/ 2 h 6858001"/>
              <a:gd name="connsiteX3" fmla="*/ 12192000 w 12192000"/>
              <a:gd name="connsiteY3" fmla="*/ 2 h 6858001"/>
              <a:gd name="connsiteX4" fmla="*/ 12192000 w 12192000"/>
              <a:gd name="connsiteY4" fmla="*/ 5646941 h 6858001"/>
              <a:gd name="connsiteX5" fmla="*/ 9619733 w 12192000"/>
              <a:gd name="connsiteY5" fmla="*/ 6858001 h 6858001"/>
              <a:gd name="connsiteX6" fmla="*/ 4809867 w 12192000"/>
              <a:gd name="connsiteY6" fmla="*/ 6858001 h 6858001"/>
              <a:gd name="connsiteX7" fmla="*/ 0 w 12192000"/>
              <a:gd name="connsiteY7" fmla="*/ 6858001 h 6858001"/>
              <a:gd name="connsiteX8" fmla="*/ 0 w 12192000"/>
              <a:gd name="connsiteY8" fmla="*/ 6525157 h 6858001"/>
              <a:gd name="connsiteX9" fmla="*/ 0 w 12192000"/>
              <a:gd name="connsiteY9" fmla="*/ 6040509 h 6858001"/>
              <a:gd name="connsiteX10" fmla="*/ 0 w 12192000"/>
              <a:gd name="connsiteY10" fmla="*/ 157116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1">
                <a:moveTo>
                  <a:pt x="3337128" y="0"/>
                </a:moveTo>
                <a:lnTo>
                  <a:pt x="10351518" y="0"/>
                </a:lnTo>
                <a:lnTo>
                  <a:pt x="10351518" y="2"/>
                </a:lnTo>
                <a:lnTo>
                  <a:pt x="12192000" y="2"/>
                </a:lnTo>
                <a:lnTo>
                  <a:pt x="12192000" y="5646941"/>
                </a:lnTo>
                <a:lnTo>
                  <a:pt x="9619733" y="6858001"/>
                </a:lnTo>
                <a:lnTo>
                  <a:pt x="4809867" y="6858001"/>
                </a:lnTo>
                <a:lnTo>
                  <a:pt x="0" y="6858001"/>
                </a:lnTo>
                <a:lnTo>
                  <a:pt x="0" y="6525157"/>
                </a:lnTo>
                <a:lnTo>
                  <a:pt x="0" y="6040509"/>
                </a:lnTo>
                <a:lnTo>
                  <a:pt x="0" y="157116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" name="Freeform: Shape 4"/>
          <p:cNvSpPr/>
          <p:nvPr/>
        </p:nvSpPr>
        <p:spPr>
          <a:xfrm rot="1534448" flipH="1">
            <a:off x="1184356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 flipH="1" flipV="1">
            <a:off x="-12700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flipH="1">
            <a:off x="8804218" y="727340"/>
            <a:ext cx="3605825" cy="1496607"/>
            <a:chOff x="-221275" y="727340"/>
            <a:chExt cx="3605825" cy="1496607"/>
          </a:xfrm>
        </p:grpSpPr>
        <p:sp>
          <p:nvSpPr>
            <p:cNvPr id="83" name="Freeform: Shape 82"/>
            <p:cNvSpPr/>
            <p:nvPr/>
          </p:nvSpPr>
          <p:spPr>
            <a:xfrm rot="20065552">
              <a:off x="-221275" y="1693687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cxnSp>
          <p:nvCxnSpPr>
            <p:cNvPr id="84" name="Straight Connector 83"/>
            <p:cNvCxnSpPr>
              <a:cxnSpLocks/>
            </p:cNvCxnSpPr>
            <p:nvPr/>
          </p:nvCxnSpPr>
          <p:spPr>
            <a:xfrm flipV="1">
              <a:off x="830977" y="727340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77516" y="1590863"/>
            <a:ext cx="5807600" cy="4116517"/>
            <a:chOff x="3016251" y="1239838"/>
            <a:chExt cx="6176963" cy="4378326"/>
          </a:xfrm>
        </p:grpSpPr>
        <p:sp>
          <p:nvSpPr>
            <p:cNvPr id="11" name="Freeform: Shape 10"/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Freeform: Shape 17"/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Freeform: Shape 18"/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Freeform: Shape 19"/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Freeform: Shape 24"/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Freeform: Shape 25"/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Freeform: Shape 26"/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Oval 27"/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Freeform: Shape 28"/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Freeform: Shape 29"/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Freeform: Shape 33"/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Freeform: Shape 37"/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Freeform: Shape 38"/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Freeform: Shape 39"/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40"/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41"/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Freeform: Shape 42"/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43"/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Freeform: Shape 44"/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Freeform: Shape 45"/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Freeform: Shape 46"/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47"/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Freeform: Shape 48"/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Freeform: Shape 49"/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Freeform: Shape 50"/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Freeform: Shape 51"/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Freeform: Shape 52"/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Freeform: Shape 53"/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Freeform: Shape 54"/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Freeform: Shape 55"/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Freeform: Shape 56"/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Freeform: Shape 57"/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Freeform: Shape 58"/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Freeform: Shape 59"/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Freeform: Shape 60"/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Freeform: Shape 65"/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Freeform: Shape 66"/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Freeform: Shape 67"/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Freeform: Shape 68"/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Oval 69"/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chemeClr val="accent1">
                <a:lumMod val="50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Freeform: Shape 70"/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Freeform: Shape 71"/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Freeform: Shape 72"/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Freeform: Shape 73"/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Freeform: Shape 74"/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Freeform: Shape 75"/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Freeform: Shape 76"/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Freeform: Shape 77"/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Freeform: Shape 78"/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Freeform: Shape 79"/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Freeform: Shape 80"/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Freeform: Shape 81"/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27792" y="2040128"/>
            <a:ext cx="5091107" cy="2777744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Text Placeholder 4294967294"/>
          <p:cNvSpPr>
            <a:spLocks noGrp="1"/>
          </p:cNvSpPr>
          <p:nvPr>
            <p:ph type="body" sz="quarter" idx="13" hasCustomPrompt="1"/>
          </p:nvPr>
        </p:nvSpPr>
        <p:spPr>
          <a:xfrm>
            <a:off x="6427792" y="5570220"/>
            <a:ext cx="5091108" cy="27432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 dirty="0"/>
          </a:p>
        </p:txBody>
      </p:sp>
    </p:spTree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6034740 h 6858000"/>
              <a:gd name="connsiteX1" fmla="*/ 12192000 w 12192000"/>
              <a:gd name="connsiteY1" fmla="*/ 6858000 h 6858000"/>
              <a:gd name="connsiteX2" fmla="*/ 10443412 w 12192000"/>
              <a:gd name="connsiteY2" fmla="*/ 6858000 h 6858000"/>
              <a:gd name="connsiteX3" fmla="*/ 0 w 12192000"/>
              <a:gd name="connsiteY3" fmla="*/ 0 h 6858000"/>
              <a:gd name="connsiteX4" fmla="*/ 1905282 w 12192000"/>
              <a:gd name="connsiteY4" fmla="*/ 0 h 6858000"/>
              <a:gd name="connsiteX5" fmla="*/ 0 w 12192000"/>
              <a:gd name="connsiteY5" fmla="*/ 8970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12192000" y="6034740"/>
                </a:moveTo>
                <a:lnTo>
                  <a:pt x="12192000" y="6858000"/>
                </a:lnTo>
                <a:lnTo>
                  <a:pt x="10443412" y="6858000"/>
                </a:lnTo>
                <a:close/>
                <a:moveTo>
                  <a:pt x="0" y="0"/>
                </a:moveTo>
                <a:lnTo>
                  <a:pt x="1905282" y="0"/>
                </a:lnTo>
                <a:lnTo>
                  <a:pt x="0" y="897034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C29581-8E49-3187-0831-CA722CECB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130300"/>
            <a:ext cx="6003257" cy="2568858"/>
          </a:xfrm>
        </p:spPr>
        <p:txBody>
          <a:bodyPr>
            <a:normAutofit/>
          </a:bodyPr>
          <a:lstStyle/>
          <a:p>
            <a:r>
              <a:rPr lang="zh-CN" altLang="en-US" dirty="0"/>
              <a:t>“杨数浦”人工智能公共服务平台培训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EC47266-BDC5-AE9B-BF2E-B62F6C53A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173181"/>
            <a:ext cx="6003257" cy="508703"/>
          </a:xfrm>
        </p:spPr>
        <p:txBody>
          <a:bodyPr/>
          <a:lstStyle/>
          <a:p>
            <a:r>
              <a:rPr lang="zh-CN" altLang="en-US" dirty="0"/>
              <a:t>赋能政务办公，智提服务效能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E50482-7BE8-8D17-9805-8BEEAB67BD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5586374"/>
            <a:ext cx="4517887" cy="274320"/>
          </a:xfrm>
        </p:spPr>
        <p:txBody>
          <a:bodyPr/>
          <a:lstStyle/>
          <a:p>
            <a:r>
              <a:rPr lang="zh-CN" altLang="en-US" dirty="0"/>
              <a:t>上海市杨浦区数据局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9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22B4-DEC0-AAC0-C87E-D00BBE8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62A39B-0347-47A8-90F7-D8C45012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平台总体介绍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949A79-4BD3-9FDD-B43E-7158B5FFC6C6}"/>
              </a:ext>
            </a:extLst>
          </p:cNvPr>
          <p:cNvSpPr txBox="1"/>
          <p:nvPr/>
        </p:nvSpPr>
        <p:spPr>
          <a:xfrm>
            <a:off x="532765" y="1179034"/>
            <a:ext cx="11126469" cy="7105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0000" tIns="108000" rIns="180000" bIns="108000" rtlCol="0" anchor="t" anchorCtr="0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采用</a:t>
            </a:r>
            <a:r>
              <a:rPr lang="en-US" altLang="zh-CN" sz="1600" dirty="0">
                <a:sym typeface="+mn-ea"/>
              </a:rPr>
              <a:t>“</a:t>
            </a:r>
            <a:r>
              <a:rPr lang="zh-CN" altLang="en-US" sz="1600" dirty="0">
                <a:sym typeface="+mn-ea"/>
              </a:rPr>
              <a:t>通用场景</a:t>
            </a:r>
            <a:r>
              <a:rPr lang="en-US" altLang="zh-CN" sz="1600" dirty="0">
                <a:sym typeface="+mn-ea"/>
              </a:rPr>
              <a:t> + </a:t>
            </a:r>
            <a:r>
              <a:rPr lang="zh-CN" altLang="en-US" sz="1600" dirty="0">
                <a:sym typeface="+mn-ea"/>
              </a:rPr>
              <a:t>垂类</a:t>
            </a:r>
            <a:r>
              <a:rPr lang="en-US" altLang="zh-CN" sz="1600" dirty="0">
                <a:sym typeface="+mn-ea"/>
              </a:rPr>
              <a:t> / </a:t>
            </a:r>
            <a:r>
              <a:rPr lang="zh-CN" altLang="en-US" sz="1600" dirty="0">
                <a:sym typeface="+mn-ea"/>
              </a:rPr>
              <a:t>行业场景</a:t>
            </a:r>
            <a:r>
              <a:rPr lang="en-US" altLang="zh-CN" sz="1600" dirty="0">
                <a:sym typeface="+mn-ea"/>
              </a:rPr>
              <a:t> + </a:t>
            </a:r>
            <a:r>
              <a:rPr lang="zh-CN" altLang="en-US" sz="1600" dirty="0">
                <a:sym typeface="+mn-ea"/>
              </a:rPr>
              <a:t>统一入口</a:t>
            </a:r>
            <a:r>
              <a:rPr lang="en-US" altLang="zh-CN" sz="1600" dirty="0">
                <a:sym typeface="+mn-ea"/>
              </a:rPr>
              <a:t>” </a:t>
            </a:r>
            <a:r>
              <a:rPr lang="zh-CN" altLang="en-US" sz="1600" dirty="0">
                <a:sym typeface="+mn-ea"/>
              </a:rPr>
              <a:t>的组合形式，既覆盖广谱需求，又突出部门特色，同时通过统一入口降低群众使用门槛。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EF664A7-B0BE-B0E4-19A6-C91A5F2B3AC4}"/>
              </a:ext>
            </a:extLst>
          </p:cNvPr>
          <p:cNvGrpSpPr/>
          <p:nvPr/>
        </p:nvGrpSpPr>
        <p:grpSpPr>
          <a:xfrm>
            <a:off x="6583084" y="3315341"/>
            <a:ext cx="5076150" cy="2936930"/>
            <a:chOff x="6583085" y="3315341"/>
            <a:chExt cx="5076150" cy="293693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D2C63BF-9ED5-5608-DA4C-464B1919C53A}"/>
                </a:ext>
              </a:extLst>
            </p:cNvPr>
            <p:cNvSpPr txBox="1"/>
            <p:nvPr/>
          </p:nvSpPr>
          <p:spPr>
            <a:xfrm>
              <a:off x="6979623" y="3315341"/>
              <a:ext cx="4283075" cy="40811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政务服务链路</a:t>
              </a: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86682B0A-60E4-8262-4F9D-D0A5FFF02D27}"/>
                </a:ext>
              </a:extLst>
            </p:cNvPr>
            <p:cNvGrpSpPr/>
            <p:nvPr/>
          </p:nvGrpSpPr>
          <p:grpSpPr>
            <a:xfrm>
              <a:off x="7148850" y="3959124"/>
              <a:ext cx="3944620" cy="1776730"/>
              <a:chOff x="7104420" y="3959124"/>
              <a:chExt cx="3944620" cy="1776730"/>
            </a:xfrm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0198F0-2FBA-0598-4B53-2C71F8777C17}"/>
                  </a:ext>
                </a:extLst>
              </p:cNvPr>
              <p:cNvSpPr txBox="1"/>
              <p:nvPr/>
            </p:nvSpPr>
            <p:spPr>
              <a:xfrm>
                <a:off x="7104420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5652F2D-4AAB-2BC7-33BF-5D4D1CD94F45}"/>
                  </a:ext>
                </a:extLst>
              </p:cNvPr>
              <p:cNvSpPr txBox="1"/>
              <p:nvPr/>
            </p:nvSpPr>
            <p:spPr>
              <a:xfrm>
                <a:off x="8446810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D9DE01E-FAC9-E852-E737-62AAFE95E34A}"/>
                  </a:ext>
                </a:extLst>
              </p:cNvPr>
              <p:cNvSpPr txBox="1"/>
              <p:nvPr/>
            </p:nvSpPr>
            <p:spPr>
              <a:xfrm>
                <a:off x="9789200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3054F9A-7627-B288-F5F5-CB2F50E4FE1C}"/>
                  </a:ext>
                </a:extLst>
              </p:cNvPr>
              <p:cNvSpPr txBox="1"/>
              <p:nvPr/>
            </p:nvSpPr>
            <p:spPr>
              <a:xfrm>
                <a:off x="7104420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4A5B0DA-CED0-6D9A-E0A7-3EDB0789C3CE}"/>
                  </a:ext>
                </a:extLst>
              </p:cNvPr>
              <p:cNvSpPr txBox="1"/>
              <p:nvPr/>
            </p:nvSpPr>
            <p:spPr>
              <a:xfrm>
                <a:off x="8446810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54C3EDF-9232-2F4E-7700-0639D0066688}"/>
                  </a:ext>
                </a:extLst>
              </p:cNvPr>
              <p:cNvSpPr txBox="1"/>
              <p:nvPr/>
            </p:nvSpPr>
            <p:spPr>
              <a:xfrm>
                <a:off x="9789200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348022B-F785-3951-DF5F-5F5476F84650}"/>
                  </a:ext>
                </a:extLst>
              </p:cNvPr>
              <p:cNvSpPr txBox="1"/>
              <p:nvPr/>
            </p:nvSpPr>
            <p:spPr>
              <a:xfrm>
                <a:off x="8446810" y="527357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sz="1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... ...</a:t>
                </a: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A3F98EBF-49C3-1DE8-7C87-11E1850729AC}"/>
                </a:ext>
              </a:extLst>
            </p:cNvPr>
            <p:cNvGrpSpPr/>
            <p:nvPr/>
          </p:nvGrpSpPr>
          <p:grpSpPr>
            <a:xfrm>
              <a:off x="6583085" y="5946865"/>
              <a:ext cx="5076150" cy="305406"/>
              <a:chOff x="6583085" y="5946865"/>
              <a:chExt cx="5076150" cy="305406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6DE75F5-6599-52E1-5636-D30F73B6F53D}"/>
                  </a:ext>
                </a:extLst>
              </p:cNvPr>
              <p:cNvSpPr txBox="1"/>
              <p:nvPr/>
            </p:nvSpPr>
            <p:spPr>
              <a:xfrm>
                <a:off x="6583085" y="5946865"/>
                <a:ext cx="828000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我要问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02EC9F7-EDF2-8F09-E63B-0DA6A1AFCE89}"/>
                  </a:ext>
                </a:extLst>
              </p:cNvPr>
              <p:cNvSpPr txBox="1"/>
              <p:nvPr/>
            </p:nvSpPr>
            <p:spPr>
              <a:xfrm>
                <a:off x="7433310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我要办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AFA7825-EE26-60BE-32B5-6EDE41823596}"/>
                  </a:ext>
                </a:extLst>
              </p:cNvPr>
              <p:cNvSpPr txBox="1"/>
              <p:nvPr/>
            </p:nvSpPr>
            <p:spPr>
              <a:xfrm>
                <a:off x="8282940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我要报名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D172F88-1DFB-C715-05E9-892E4B8D97B8}"/>
                  </a:ext>
                </a:extLst>
              </p:cNvPr>
              <p:cNvSpPr txBox="1"/>
              <p:nvPr/>
            </p:nvSpPr>
            <p:spPr>
              <a:xfrm>
                <a:off x="9982200" y="5947168"/>
                <a:ext cx="827405" cy="304800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我要投诉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FD82C4E-13CB-8D98-D85D-F58506BDCE9A}"/>
                  </a:ext>
                </a:extLst>
              </p:cNvPr>
              <p:cNvSpPr txBox="1"/>
              <p:nvPr/>
            </p:nvSpPr>
            <p:spPr>
              <a:xfrm>
                <a:off x="9132570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我要创业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59C75EE-1305-3A78-AD50-BC6AB9103A21}"/>
                  </a:ext>
                </a:extLst>
              </p:cNvPr>
              <p:cNvSpPr txBox="1"/>
              <p:nvPr/>
            </p:nvSpPr>
            <p:spPr>
              <a:xfrm>
                <a:off x="10831830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我要处理</a:t>
                </a:r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450F188-BCC5-CA3B-88BF-B6E251B05E60}"/>
              </a:ext>
            </a:extLst>
          </p:cNvPr>
          <p:cNvGrpSpPr/>
          <p:nvPr/>
        </p:nvGrpSpPr>
        <p:grpSpPr>
          <a:xfrm>
            <a:off x="532765" y="3315323"/>
            <a:ext cx="5297805" cy="2936948"/>
            <a:chOff x="532765" y="3315323"/>
            <a:chExt cx="5297805" cy="293694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FD5992-FF37-12A6-8F5A-28DAD740588A}"/>
                </a:ext>
              </a:extLst>
            </p:cNvPr>
            <p:cNvSpPr txBox="1"/>
            <p:nvPr/>
          </p:nvSpPr>
          <p:spPr>
            <a:xfrm>
              <a:off x="1040130" y="3315323"/>
              <a:ext cx="4283075" cy="40814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政务办公链路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4B6D288-47B2-5B4C-3A18-9E8C280F7B7A}"/>
                </a:ext>
              </a:extLst>
            </p:cNvPr>
            <p:cNvGrpSpPr/>
            <p:nvPr/>
          </p:nvGrpSpPr>
          <p:grpSpPr>
            <a:xfrm>
              <a:off x="1209357" y="3959124"/>
              <a:ext cx="3944620" cy="1776730"/>
              <a:chOff x="1152565" y="3959124"/>
              <a:chExt cx="3944620" cy="1776730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32789A5-3E2D-D0A8-294A-B5AD477CB3C3}"/>
                  </a:ext>
                </a:extLst>
              </p:cNvPr>
              <p:cNvSpPr txBox="1"/>
              <p:nvPr/>
            </p:nvSpPr>
            <p:spPr>
              <a:xfrm>
                <a:off x="1152565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8C4F10A-A2D0-4043-BAA3-F8773E354CD2}"/>
                  </a:ext>
                </a:extLst>
              </p:cNvPr>
              <p:cNvSpPr txBox="1"/>
              <p:nvPr/>
            </p:nvSpPr>
            <p:spPr>
              <a:xfrm>
                <a:off x="2494955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99CFFBE-6666-1CBC-850A-289BC88DDE95}"/>
                  </a:ext>
                </a:extLst>
              </p:cNvPr>
              <p:cNvSpPr txBox="1"/>
              <p:nvPr/>
            </p:nvSpPr>
            <p:spPr>
              <a:xfrm>
                <a:off x="3837345" y="395912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通用场景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B22801F-BE9B-0767-4D56-DEA55D86E6D3}"/>
                  </a:ext>
                </a:extLst>
              </p:cNvPr>
              <p:cNvSpPr txBox="1"/>
              <p:nvPr/>
            </p:nvSpPr>
            <p:spPr>
              <a:xfrm>
                <a:off x="1152565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5B6FC4-2FB5-74A4-1363-E478D882A085}"/>
                  </a:ext>
                </a:extLst>
              </p:cNvPr>
              <p:cNvSpPr txBox="1"/>
              <p:nvPr/>
            </p:nvSpPr>
            <p:spPr>
              <a:xfrm>
                <a:off x="2494955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5FFEACE-C000-954D-C991-3E0CF4919298}"/>
                  </a:ext>
                </a:extLst>
              </p:cNvPr>
              <p:cNvSpPr txBox="1"/>
              <p:nvPr/>
            </p:nvSpPr>
            <p:spPr>
              <a:xfrm>
                <a:off x="3837345" y="4621429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垂类场景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81C98A6-1997-794B-DA4B-3551DEBCE354}"/>
                  </a:ext>
                </a:extLst>
              </p:cNvPr>
              <p:cNvSpPr txBox="1"/>
              <p:nvPr/>
            </p:nvSpPr>
            <p:spPr>
              <a:xfrm>
                <a:off x="2494955" y="5273574"/>
                <a:ext cx="1259840" cy="46228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sz="1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... ...</a:t>
                </a: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CCAEC17A-9A41-4963-58C5-B519AE9EB9E8}"/>
                </a:ext>
              </a:extLst>
            </p:cNvPr>
            <p:cNvGrpSpPr/>
            <p:nvPr/>
          </p:nvGrpSpPr>
          <p:grpSpPr>
            <a:xfrm>
              <a:off x="532765" y="5946865"/>
              <a:ext cx="5297805" cy="305406"/>
              <a:chOff x="532765" y="5946865"/>
              <a:chExt cx="5297805" cy="305406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D2D4188-B28B-4E4D-296F-309CCBDEE499}"/>
                  </a:ext>
                </a:extLst>
              </p:cNvPr>
              <p:cNvSpPr txBox="1"/>
              <p:nvPr/>
            </p:nvSpPr>
            <p:spPr>
              <a:xfrm>
                <a:off x="53276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政务办公</a:t>
                </a: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4A185DF-19C1-FFEF-AB70-4DB51243016B}"/>
                  </a:ext>
                </a:extLst>
              </p:cNvPr>
              <p:cNvSpPr txBox="1"/>
              <p:nvPr/>
            </p:nvSpPr>
            <p:spPr>
              <a:xfrm>
                <a:off x="142684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政务申请</a:t>
                </a: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D97E9B5-81D4-61ED-FF0A-DB9EA1DF6F84}"/>
                  </a:ext>
                </a:extLst>
              </p:cNvPr>
              <p:cNvSpPr txBox="1"/>
              <p:nvPr/>
            </p:nvSpPr>
            <p:spPr>
              <a:xfrm>
                <a:off x="232092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事项收集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0D5DFF34-D773-FE68-2F4C-17841839C325}"/>
                  </a:ext>
                </a:extLst>
              </p:cNvPr>
              <p:cNvSpPr txBox="1"/>
              <p:nvPr/>
            </p:nvSpPr>
            <p:spPr>
              <a:xfrm>
                <a:off x="321500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事项办理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0EE4FE2-F1D5-A69A-8B86-453F976DD6BB}"/>
                  </a:ext>
                </a:extLst>
              </p:cNvPr>
              <p:cNvSpPr txBox="1"/>
              <p:nvPr/>
            </p:nvSpPr>
            <p:spPr>
              <a:xfrm>
                <a:off x="410908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分析洞察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FDECCE7-8AFF-E350-A8D2-36890760E66D}"/>
                  </a:ext>
                </a:extLst>
              </p:cNvPr>
              <p:cNvSpPr txBox="1"/>
              <p:nvPr/>
            </p:nvSpPr>
            <p:spPr>
              <a:xfrm>
                <a:off x="5003165" y="5946865"/>
                <a:ext cx="827405" cy="30540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总结存档</a:t>
                </a: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22239B-5C44-5054-DB5F-02C7F215A5A1}"/>
              </a:ext>
            </a:extLst>
          </p:cNvPr>
          <p:cNvGrpSpPr/>
          <p:nvPr/>
        </p:nvGrpSpPr>
        <p:grpSpPr>
          <a:xfrm>
            <a:off x="2662873" y="1913182"/>
            <a:ext cx="6866255" cy="1435100"/>
            <a:chOff x="1788795" y="1744892"/>
            <a:chExt cx="6866255" cy="14351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6D68D19-28AA-EDF1-3E0F-B57B87FDDA32}"/>
                </a:ext>
              </a:extLst>
            </p:cNvPr>
            <p:cNvSpPr txBox="1"/>
            <p:nvPr/>
          </p:nvSpPr>
          <p:spPr>
            <a:xfrm>
              <a:off x="1788795" y="2278292"/>
              <a:ext cx="2188210" cy="368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“</a:t>
              </a:r>
              <a:r>
                <a:rPr lang="zh-CN" altLang="en-US"/>
                <a:t>杨小通</a:t>
              </a:r>
              <a:r>
                <a:rPr lang="en-US" altLang="zh-CN"/>
                <a:t>”</a:t>
              </a:r>
              <a:r>
                <a:rPr lang="zh-CN" altLang="en-US"/>
                <a:t>统一入口</a:t>
              </a: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E8F404E5-3817-5E2C-F999-8EC3EFAA3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6950" y="1744892"/>
              <a:ext cx="5118100" cy="143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62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C49C-F18C-7F7D-8FBE-8E162C47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84B76E-791A-98C3-F688-E214AD0A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场景一：公文写作助手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E20106-18A1-E982-A9D2-9276DDCC495B}"/>
              </a:ext>
            </a:extLst>
          </p:cNvPr>
          <p:cNvSpPr txBox="1"/>
          <p:nvPr/>
        </p:nvSpPr>
        <p:spPr>
          <a:xfrm>
            <a:off x="660400" y="1435549"/>
            <a:ext cx="5044848" cy="3920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公务员通过简单交互即可完成公文模板选择、内容生成、修改优化与导出管理的全链路工作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全区各个委办和街道有公文写作需求的工作人员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常见公文写作类型（发言稿、总结汇报稿等）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604CF8-43FC-94E1-7135-9C281D77333A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选择文体启动公文写作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导入参考文档生成内容大纲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使用二次编辑功能优化文本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调整字体格式后下载文件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查阅编辑的公文历史版本</a:t>
            </a:r>
          </a:p>
        </p:txBody>
      </p:sp>
    </p:spTree>
    <p:extLst>
      <p:ext uri="{BB962C8B-B14F-4D97-AF65-F5344CB8AC3E}">
        <p14:creationId xmlns:p14="http://schemas.microsoft.com/office/powerpoint/2010/main" val="400310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1613-8A5E-3F76-F020-23413CC0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CB6B69-DF2C-12DD-4BB8-DDB1B1D5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场景二：边聊边办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90F752-9965-6A00-A4F9-15BDF37E7FF6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实现“对话式”业务办理。市民无需熟悉复杂流程，仅通过自然语言交互即可完成业务咨询、信息填报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杨浦区全体有办理权力事项需求的企业和市民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重点打造长护险场景的完整闭环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14663B-3B30-58FD-4183-A87E36843951}"/>
              </a:ext>
            </a:extLst>
          </p:cNvPr>
          <p:cNvSpPr txBox="1"/>
          <p:nvPr/>
        </p:nvSpPr>
        <p:spPr>
          <a:xfrm>
            <a:off x="6939191" y="1435548"/>
            <a:ext cx="4592409" cy="3203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业务需求输入（含材料附件）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场景咨询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场景办理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表单生成</a:t>
            </a:r>
          </a:p>
        </p:txBody>
      </p:sp>
    </p:spTree>
    <p:extLst>
      <p:ext uri="{BB962C8B-B14F-4D97-AF65-F5344CB8AC3E}">
        <p14:creationId xmlns:p14="http://schemas.microsoft.com/office/powerpoint/2010/main" val="219304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061E-E332-F979-FA49-4B14739F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E324C6-8737-B320-5251-BDF924EF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场景三：边聊边申请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46348D-C22C-81D5-4EC8-A8995CF1C4D0}"/>
              </a:ext>
            </a:extLst>
          </p:cNvPr>
          <p:cNvSpPr txBox="1"/>
          <p:nvPr/>
        </p:nvSpPr>
        <p:spPr>
          <a:xfrm>
            <a:off x="660400" y="1435549"/>
            <a:ext cx="5044848" cy="3920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打造轻量化、对话式申请模式，通过自然语言输入需求，引导各委办完成需求确认与申请提交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全区各个单位有公共数据需求的工作人员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区大数据资源平台数据目录所涵盖的范围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EF4881-D017-66D9-C651-FCB53F18AF37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数据表</a:t>
            </a:r>
            <a:r>
              <a:rPr kumimoji="1" lang="en-US" altLang="zh-CN" dirty="0"/>
              <a:t>/</a:t>
            </a:r>
            <a:r>
              <a:rPr kumimoji="1" lang="zh-CN" altLang="en-US" dirty="0"/>
              <a:t>字段匹配查看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数据需求输入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部门与可申请系统确认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申请提交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申请历史查询</a:t>
            </a:r>
          </a:p>
        </p:txBody>
      </p:sp>
    </p:spTree>
    <p:extLst>
      <p:ext uri="{BB962C8B-B14F-4D97-AF65-F5344CB8AC3E}">
        <p14:creationId xmlns:p14="http://schemas.microsoft.com/office/powerpoint/2010/main" val="972934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AC1F-F11A-409C-8DD7-F8E8DA51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7D2CA9-451D-3668-85DF-47023DB0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场景四：智慧导办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0FDF6F-D6DD-CAAC-E150-E85701E60489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以“精准匹配需求、高效解答疑问、辅助业务办理”为核心目标，打造“对话式”智慧导办服务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杨浦区全体有问询诉求的市民和企业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录入</a:t>
            </a:r>
            <a:r>
              <a:rPr kumimoji="1" lang="en-US" altLang="zh-CN" dirty="0"/>
              <a:t>2021</a:t>
            </a:r>
            <a:r>
              <a:rPr kumimoji="1" lang="zh-CN" altLang="en-US" dirty="0"/>
              <a:t>年以来区政府公开文件</a:t>
            </a:r>
            <a:r>
              <a:rPr kumimoji="1" lang="en-US" altLang="zh-CN" dirty="0"/>
              <a:t>956</a:t>
            </a:r>
            <a:r>
              <a:rPr kumimoji="1" lang="zh-CN" altLang="en-US" dirty="0"/>
              <a:t>份，累计导入问答知识</a:t>
            </a:r>
            <a:r>
              <a:rPr kumimoji="1" lang="en-US" altLang="zh-CN" dirty="0"/>
              <a:t>1.7</a:t>
            </a:r>
            <a:r>
              <a:rPr kumimoji="1" lang="zh-CN" altLang="en-US" dirty="0"/>
              <a:t>万条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C08351-9B70-D6DB-CD3E-1CB1ACC9316F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业务需求输入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知识问答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事项导办指引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文档概要查看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向量检索辅助查询</a:t>
            </a:r>
          </a:p>
        </p:txBody>
      </p:sp>
    </p:spTree>
    <p:extLst>
      <p:ext uri="{BB962C8B-B14F-4D97-AF65-F5344CB8AC3E}">
        <p14:creationId xmlns:p14="http://schemas.microsoft.com/office/powerpoint/2010/main" val="26796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7EEC-BCC9-C7B8-9608-70A5A01A1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DE0C32-3B5E-4E6E-316E-FC178675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场景五：智慧仲裁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978DAB-8560-0AFA-C0BC-5D3EA663114A}"/>
              </a:ext>
            </a:extLst>
          </p:cNvPr>
          <p:cNvSpPr txBox="1"/>
          <p:nvPr/>
        </p:nvSpPr>
        <p:spPr>
          <a:xfrm>
            <a:off x="660400" y="1435549"/>
            <a:ext cx="5044848" cy="475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借助文档识别、语义解析，实现“庭审笔录</a:t>
            </a:r>
            <a:r>
              <a:rPr kumimoji="1" lang="en-US" altLang="zh-CN" dirty="0"/>
              <a:t>-</a:t>
            </a:r>
            <a:r>
              <a:rPr kumimoji="1" lang="zh-CN" altLang="en-US" dirty="0"/>
              <a:t>裁决书”的智能化转化。仅通过笔录上传、诉求选择等简单操作，即可完成争议焦点提炼、裁决书生成，大幅提升仲裁文书处理效率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劳动人事争议仲裁院的仲裁员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全年仲裁案件量</a:t>
            </a:r>
            <a:r>
              <a:rPr kumimoji="1" lang="en-US" altLang="zh-CN" dirty="0"/>
              <a:t>3000+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271399-D5F4-4470-D19F-58B567FD43AC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笔录上传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参考材料上传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诉求</a:t>
            </a:r>
            <a:r>
              <a:rPr kumimoji="1" lang="en-US" altLang="zh-CN" dirty="0"/>
              <a:t>/</a:t>
            </a:r>
            <a:r>
              <a:rPr kumimoji="1" lang="zh-CN" altLang="en-US" dirty="0"/>
              <a:t>证据提取与选择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裁决书预览</a:t>
            </a:r>
            <a:r>
              <a:rPr kumimoji="1" lang="en-US" altLang="zh-CN" dirty="0"/>
              <a:t>/</a:t>
            </a:r>
            <a:r>
              <a:rPr kumimoji="1" lang="zh-CN" altLang="en-US" dirty="0"/>
              <a:t>改写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裁决书导出</a:t>
            </a:r>
          </a:p>
        </p:txBody>
      </p:sp>
    </p:spTree>
    <p:extLst>
      <p:ext uri="{BB962C8B-B14F-4D97-AF65-F5344CB8AC3E}">
        <p14:creationId xmlns:p14="http://schemas.microsoft.com/office/powerpoint/2010/main" val="368279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74FE-0064-ACC2-867D-4B10F7BE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C9A5A9-4850-8F45-6216-BA0F363A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场景六：法律咨询辅助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F8596D-236A-D045-07E9-AB7167577AF8}"/>
              </a:ext>
            </a:extLst>
          </p:cNvPr>
          <p:cNvSpPr txBox="1"/>
          <p:nvPr/>
        </p:nvSpPr>
        <p:spPr>
          <a:xfrm>
            <a:off x="660400" y="1435549"/>
            <a:ext cx="5044848" cy="4749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通过系统实时交互即可获取法律条文、之前咨询案例支持，缓解咨询量大、案件杂、法条更新快痛点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sz="800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司法局面向市民咨询的一线律师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sz="800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法条范围包含民法典、民事诉讼法、刑法、劳动法、劳动合同法等，每个线下窗口全年咨询量</a:t>
            </a:r>
            <a:r>
              <a:rPr kumimoji="1" lang="en-US" altLang="zh-CN" dirty="0"/>
              <a:t>1500+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F844EE-6A0D-42D6-70AD-78A7E0249D45}"/>
              </a:ext>
            </a:extLst>
          </p:cNvPr>
          <p:cNvSpPr txBox="1"/>
          <p:nvPr/>
        </p:nvSpPr>
        <p:spPr>
          <a:xfrm>
            <a:off x="6939191" y="1435548"/>
            <a:ext cx="4592409" cy="320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法律知识库管理（法律</a:t>
            </a:r>
            <a:r>
              <a:rPr kumimoji="1" lang="en-US" altLang="zh-CN" dirty="0"/>
              <a:t>/</a:t>
            </a:r>
            <a:r>
              <a:rPr kumimoji="1" lang="zh-CN" altLang="en-US" dirty="0"/>
              <a:t>司法解释，法规）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案例库管理（案例审核）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管理端用户管理</a:t>
            </a:r>
          </a:p>
        </p:txBody>
      </p:sp>
    </p:spTree>
    <p:extLst>
      <p:ext uri="{BB962C8B-B14F-4D97-AF65-F5344CB8AC3E}">
        <p14:creationId xmlns:p14="http://schemas.microsoft.com/office/powerpoint/2010/main" val="161174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3875-3496-95A6-303F-F68DD110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4F5BDF-9A5A-19EC-8698-E030D4D2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场景七：边聊边报名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241EDB-FBEC-18CB-FA40-11DAB1A06124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依托大模型语义解析、动态状态联动与多端接口适配能力，实现“咨询</a:t>
            </a:r>
            <a:r>
              <a:rPr kumimoji="1" lang="en-US" altLang="zh-CN" dirty="0"/>
              <a:t>-</a:t>
            </a:r>
            <a:r>
              <a:rPr kumimoji="1" lang="zh-CN" altLang="en-US" dirty="0"/>
              <a:t>报名引导”一体化服务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杨浦区中小学幼儿园学生及家长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杨浦区少年宫艺术团队、教学班、群文社团的课程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FCB0F9-8847-4A41-59E4-BBA5E09CA4F5}"/>
              </a:ext>
            </a:extLst>
          </p:cNvPr>
          <p:cNvSpPr txBox="1"/>
          <p:nvPr/>
        </p:nvSpPr>
        <p:spPr>
          <a:xfrm>
            <a:off x="6939191" y="1435548"/>
            <a:ext cx="4592409" cy="320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报名需求输入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招生信息查询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报名入口展示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材料要求问答</a:t>
            </a:r>
          </a:p>
        </p:txBody>
      </p:sp>
    </p:spTree>
    <p:extLst>
      <p:ext uri="{BB962C8B-B14F-4D97-AF65-F5344CB8AC3E}">
        <p14:creationId xmlns:p14="http://schemas.microsoft.com/office/powerpoint/2010/main" val="88538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0300-3F56-4613-CA66-B59601F3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7E776F-45D3-DEFC-386E-81662716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场景八：开店一件事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F79BB6-D122-4ABB-24CB-E9C6E79FC53B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市民无需熟悉复杂流程，通过自然语言交互即可完成开店咨询、流程环节指引、线上办理入口直达与线下点位查询，降低开店流程复杂度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杨浦区准备新开门店的商家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从选址到开业的</a:t>
            </a:r>
            <a:r>
              <a:rPr kumimoji="1" lang="en-US" altLang="zh-CN" dirty="0"/>
              <a:t>9</a:t>
            </a:r>
            <a:r>
              <a:rPr kumimoji="1" lang="zh-CN" altLang="en-US" dirty="0"/>
              <a:t>大核心环节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72AD22-CB37-4042-4420-AC66A3BC0EC3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开店需求输入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流程咨询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环节办理指引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线上办理入口跳转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杨浦区线下点位查询</a:t>
            </a:r>
          </a:p>
        </p:txBody>
      </p:sp>
    </p:spTree>
    <p:extLst>
      <p:ext uri="{BB962C8B-B14F-4D97-AF65-F5344CB8AC3E}">
        <p14:creationId xmlns:p14="http://schemas.microsoft.com/office/powerpoint/2010/main" val="47320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0DE8-BCC3-DFDB-0AEB-449B9A28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96CED0-C692-8F5D-8298-858D1FFF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场景九：演示文稿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35D316-DA12-4B73-0770-8658ECF4B821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告别传统的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制作方式，输入标题，自动生成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大纲，一键生成文案，让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制作极速起飞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全区各个委办和街道有写</a:t>
            </a:r>
            <a:r>
              <a:rPr kumimoji="1" lang="en-US" altLang="zh-CN" dirty="0"/>
              <a:t>PPT</a:t>
            </a:r>
            <a:r>
              <a:rPr kumimoji="1" lang="zh-CN" altLang="en-US" dirty="0"/>
              <a:t>需求的工作人员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常见演示文稿类型（总结报告、活动方案、周报日报等）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6A0B5A-7766-D710-031B-652CA65CE393}"/>
              </a:ext>
            </a:extLst>
          </p:cNvPr>
          <p:cNvSpPr txBox="1"/>
          <p:nvPr/>
        </p:nvSpPr>
        <p:spPr>
          <a:xfrm>
            <a:off x="6939191" y="1435548"/>
            <a:ext cx="4592409" cy="320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需求输入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大纲生成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en-US" altLang="zh-CN" dirty="0"/>
              <a:t>PPT</a:t>
            </a:r>
            <a:r>
              <a:rPr kumimoji="1" lang="zh-CN" altLang="en-US" dirty="0"/>
              <a:t>生成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en-US" altLang="zh-CN" dirty="0"/>
              <a:t>PPT</a:t>
            </a:r>
            <a:r>
              <a:rPr kumimoji="1" lang="zh-CN" altLang="en-US" dirty="0"/>
              <a:t>下载</a:t>
            </a:r>
          </a:p>
        </p:txBody>
      </p:sp>
    </p:spTree>
    <p:extLst>
      <p:ext uri="{BB962C8B-B14F-4D97-AF65-F5344CB8AC3E}">
        <p14:creationId xmlns:p14="http://schemas.microsoft.com/office/powerpoint/2010/main" val="423121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96E9-FEE9-3D0E-2996-313E494C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2D1E6F-C6D1-4DDC-2E6E-A2852E1F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场景十：全民参保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5AB584-E050-7459-7F7F-D8CE19F95E72}"/>
              </a:ext>
            </a:extLst>
          </p:cNvPr>
          <p:cNvSpPr txBox="1"/>
          <p:nvPr/>
        </p:nvSpPr>
        <p:spPr>
          <a:xfrm>
            <a:off x="660400" y="1435549"/>
            <a:ext cx="5044848" cy="433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场景一句话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基于语音对话技术，打造的真实互动语音外呼机器人，精准识别对话意图，构建自然流畅的语音服务体验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适用对象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医保局负责全民参保业务的工作人员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涵盖范围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年均</a:t>
            </a:r>
            <a:r>
              <a:rPr kumimoji="1" lang="en-US" altLang="zh-CN" dirty="0"/>
              <a:t>3000+</a:t>
            </a:r>
            <a:r>
              <a:rPr kumimoji="1" lang="zh-CN" altLang="en-US" dirty="0"/>
              <a:t>未投保的杨浦区居民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844CAF-EA71-DFC5-619C-22DDE075A9A5}"/>
              </a:ext>
            </a:extLst>
          </p:cNvPr>
          <p:cNvSpPr txBox="1"/>
          <p:nvPr/>
        </p:nvSpPr>
        <p:spPr>
          <a:xfrm>
            <a:off x="6939191" y="1435548"/>
            <a:ext cx="4592409" cy="38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/>
              </a:buClr>
              <a:buFont typeface="Wingdings" pitchFamily="2" charset="2"/>
              <a:buChar char="p"/>
            </a:pPr>
            <a:r>
              <a:rPr kumimoji="1" lang="zh-CN" altLang="en-US" sz="2000" b="1" dirty="0"/>
              <a:t>核心功能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市民号码对接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号线配置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外呼模板配置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外呼明细记录</a:t>
            </a:r>
            <a:endParaRPr kumimoji="1" lang="en-US" altLang="zh-CN" dirty="0"/>
          </a:p>
          <a:p>
            <a:pPr marL="742950" lvl="1" indent="-285750">
              <a:lnSpc>
                <a:spcPct val="250000"/>
              </a:lnSpc>
              <a:buClr>
                <a:schemeClr val="accent5"/>
              </a:buClr>
              <a:buFont typeface="Wingdings" pitchFamily="2" charset="2"/>
              <a:buChar char="Ø"/>
            </a:pPr>
            <a:r>
              <a:rPr kumimoji="1" lang="zh-CN" altLang="en-US" dirty="0"/>
              <a:t>外呼结果导出</a:t>
            </a:r>
          </a:p>
        </p:txBody>
      </p:sp>
    </p:spTree>
    <p:extLst>
      <p:ext uri="{BB962C8B-B14F-4D97-AF65-F5344CB8AC3E}">
        <p14:creationId xmlns:p14="http://schemas.microsoft.com/office/powerpoint/2010/main" val="427924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EFE43C-6009-55B7-3CD7-F576BE07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077D7-D399-FB35-D4A4-C47F354D3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上海市杨浦区数据局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793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ee79b56c-44bf-4999-8350-9727f073920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6B68EC"/>
      </a:accent1>
      <a:accent2>
        <a:srgbClr val="FFBE63"/>
      </a:accent2>
      <a:accent3>
        <a:srgbClr val="6DB8FF"/>
      </a:accent3>
      <a:accent4>
        <a:srgbClr val="F8DB06"/>
      </a:accent4>
      <a:accent5>
        <a:srgbClr val="5330DB"/>
      </a:accent5>
      <a:accent6>
        <a:srgbClr val="5A5060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79b56c-44bf-4999-8350-9727f0739207.source.16x9.zh-Hans" id="{9C987B4D-60FC-2746-B880-E15C47EA2246}" vid="{E8EF1E0B-854A-174A-BC66-E06D388B2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Designed by iSlide</Template>
  <TotalTime>1356</TotalTime>
  <Words>998</Words>
  <Application>Microsoft Office PowerPoint</Application>
  <PresentationFormat>宽屏</PresentationFormat>
  <Paragraphs>181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Calibri</vt:lpstr>
      <vt:lpstr>Wingdings</vt:lpstr>
      <vt:lpstr>Designed by iSlide</vt:lpstr>
      <vt:lpstr>“杨数浦”人工智能公共服务平台培训</vt:lpstr>
      <vt:lpstr>平台总体介绍</vt:lpstr>
      <vt:lpstr>场景一：公文写作助手</vt:lpstr>
      <vt:lpstr>场景二：边聊边办</vt:lpstr>
      <vt:lpstr>场景三：边聊边申请</vt:lpstr>
      <vt:lpstr>场景四：智慧导办</vt:lpstr>
      <vt:lpstr>场景五：智慧仲裁</vt:lpstr>
      <vt:lpstr>场景六：法律咨询辅助</vt:lpstr>
      <vt:lpstr>场景七：边聊边报名</vt:lpstr>
      <vt:lpstr>场景八：开店一件事</vt:lpstr>
      <vt:lpstr>场景九：演示文稿</vt:lpstr>
      <vt:lpstr>场景十：全民参保</vt:lpstr>
      <vt:lpstr>Thank you</vt:lpstr>
    </vt:vector>
  </TitlesOfParts>
  <Manager>iSlide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ZhiYi</dc:creator>
  <cp:lastModifiedBy>巴 哑</cp:lastModifiedBy>
  <cp:revision>18</cp:revision>
  <cp:lastPrinted>2023-06-15T16:00:00Z</cp:lastPrinted>
  <dcterms:created xsi:type="dcterms:W3CDTF">2025-10-16T08:49:52Z</dcterms:created>
  <dcterms:modified xsi:type="dcterms:W3CDTF">2026-03-11T08:14:56Z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ee79b56c-44bf-4999-8350-9727f0739207</vt:lpwstr>
  </property>
</Properties>
</file>